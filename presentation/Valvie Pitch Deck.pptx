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6.png"/><Relationship Id="rId7" Type="http://schemas.openxmlformats.org/officeDocument/2006/relationships/image" Target="../media/image3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212" y="3825180"/>
            <a:ext cx="6505575" cy="1733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8120" y="1299269"/>
            <a:ext cx="6075759" cy="1276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0" i="0" u="none">
                <a:solidFill>
                  <a:srgbClr val="0F172A"/>
                </a:solidFill>
                <a:latin typeface="Inter"/>
              </a:rPr>
              <a:t>Valvie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2781" y="2670869"/>
            <a:ext cx="5786437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64748B"/>
                </a:solidFill>
                <a:latin typeface="Inter Light"/>
              </a:rPr>
              <a:t>Predicting structural valve deterioration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28987" y="4120455"/>
            <a:ext cx="55340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F172A"/>
                </a:solidFill>
                <a:latin typeface="Inter SemiBold"/>
              </a:rPr>
              <a:t>Paschalis Sarras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— Electrical &amp; Computer Engineering NTUA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8987" y="4539555"/>
            <a:ext cx="55340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F172A"/>
                </a:solidFill>
                <a:latin typeface="Inter SemiBold"/>
              </a:rPr>
              <a:t>Angeliki Sarra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— Electrical &amp; Computer Engineering NTUA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8987" y="4958655"/>
            <a:ext cx="55340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F172A"/>
                </a:solidFill>
                <a:latin typeface="Inter SemiBold"/>
              </a:rPr>
              <a:t>Athina Sarra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— Medical Student UoA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95437"/>
            <a:ext cx="5238750" cy="1476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0" y="3262312"/>
            <a:ext cx="5238750" cy="1276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1750" y="4729162"/>
            <a:ext cx="5238750" cy="1285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865411"/>
            <a:ext cx="55006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Core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322611"/>
            <a:ext cx="52387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There is currently no reliable method to predict the lifespan of a bioprosthetic aortic valve using routine clinical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756719"/>
            <a:ext cx="55006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The Two Essential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1843087"/>
            <a:ext cx="4648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284C7"/>
                </a:solidFill>
                <a:latin typeface="Inter"/>
              </a:rPr>
              <a:t>12.6M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424112"/>
            <a:ext cx="46482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People globally living with calcific aortic valve disease (Yadgir et al., 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3509962"/>
            <a:ext cx="4648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284C7"/>
                </a:solidFill>
                <a:latin typeface="Inter"/>
              </a:rPr>
              <a:t>14% → 47%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090987"/>
            <a:ext cx="46482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Shift toward bioprosthetic valves between 1997–2014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4976812"/>
            <a:ext cx="46482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b="1" sz="4200" i="0" u="none">
                <a:solidFill>
                  <a:srgbClr val="0369A1"/>
                </a:solidFill>
                <a:latin typeface="Inter"/>
              </a:rPr>
              <a:t>8.2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5557837"/>
            <a:ext cx="464820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Inter Medium"/>
              </a:rPr>
              <a:t>Median time to SVD in patients ≤50 years 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4213919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Durability: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When will the valve fail? (Time-to-event)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5074741"/>
            <a:ext cx="4953000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Severity: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How much has it already deteriorated? (VARC-3 staging)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842962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Inter"/>
              </a:rPr>
              <a:t>Problem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32969"/>
            <a:ext cx="133350" cy="2190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093791"/>
            <a:ext cx="1333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4952"/>
            <a:ext cx="5286375" cy="41280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764952"/>
            <a:ext cx="5286375" cy="41280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025" y="2155477"/>
            <a:ext cx="571500" cy="571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3012727"/>
            <a:ext cx="4730591" cy="34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Dataset Overview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2155477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24650" y="3012727"/>
            <a:ext cx="4730591" cy="346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b="1" sz="2100" i="0" u="none">
                <a:solidFill>
                  <a:srgbClr val="0F172A"/>
                </a:solidFill>
                <a:latin typeface="Inter"/>
              </a:rPr>
              <a:t>Machine Learning Challenge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4425" y="2307877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5400" y="3597473"/>
            <a:ext cx="4171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117 Total patients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with unstructured clinical notes (Operative Reports, Progress Notes).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4359473"/>
            <a:ext cx="41719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&lt; 10 Confirmed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failure events (8-9 identified).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7050" y="2307877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058025" y="3597473"/>
            <a:ext cx="41719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No Explicit Ground Truth: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Absence of ready-made SVD labels or standardized failure timestamps.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025" y="4645223"/>
            <a:ext cx="41719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Data Sparsity: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Full multimodal overlap (Labs + Meds + Notes) exists for only a small subset of the cohort.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964852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Inter"/>
              </a:rPr>
              <a:t>Data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3635573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4397573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650" y="3635573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4650" y="4683323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5797"/>
            <a:ext cx="11049000" cy="3561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095797"/>
            <a:ext cx="5476875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Input: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Physicians' clinical notes (free-text format).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621458"/>
            <a:ext cx="54768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NLP Extraction: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Automatically extracts useful data (valve type, measurements, medical history) into a structured 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817441"/>
            <a:ext cx="5476875" cy="1840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Dual-Model Architecture: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047952"/>
            <a:ext cx="51911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Medical Rules (VARC-3):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Determines the current stage of valve deterioration.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200447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Inter"/>
              </a:rPr>
              <a:t>Our Model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14847"/>
            <a:ext cx="1333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40508"/>
            <a:ext cx="1333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36491"/>
            <a:ext cx="1333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3000" y="4295477"/>
            <a:ext cx="5191125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1" sz="1500" i="0" u="none">
                <a:solidFill>
                  <a:srgbClr val="0F172A"/>
                </a:solidFill>
                <a:latin typeface="Inter"/>
              </a:rPr>
              <a:t>Bayesian Model:</a:t>
            </a:r>
            <a:r>
              <a:rPr b="0" sz="1500" i="0" u="none">
                <a:solidFill>
                  <a:srgbClr val="475569"/>
                </a:solidFill>
                <a:latin typeface="Inter"/>
              </a:rPr>
              <a:t> Predicts how many years the valve will last.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314527"/>
            <a:ext cx="9525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5067002"/>
            <a:ext cx="952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65411"/>
            <a:ext cx="11049000" cy="40225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2151161"/>
            <a:ext cx="5200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Literature-Informed Priors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608361"/>
            <a:ext cx="533400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Utilizing existing literature (Capodanno 2017, Trimaille 2025) instead of an unrealistic attempt to train from scratch.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75" y="4090094"/>
            <a:ext cx="517064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Full Traceability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4547294"/>
            <a:ext cx="5334000" cy="1340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Every prediction is completely transparent and explainable. The model pinpoints </a:t>
            </a:r>
            <a:r>
              <a:rPr b="1" sz="1650" i="0" u="none">
                <a:solidFill>
                  <a:srgbClr val="475569"/>
                </a:solidFill>
                <a:latin typeface="Inter"/>
              </a:rPr>
              <a:t>exactly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which clinical factors and specific text excerpts led to the estimation.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89261"/>
            <a:ext cx="238125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128194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970061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Inter"/>
              </a:rPr>
              <a:t>Innovation 1: </a:t>
            </a:r>
            <a:r>
              <a:rPr b="1" sz="3300" i="0" u="none">
                <a:solidFill>
                  <a:srgbClr val="0284C7"/>
                </a:solidFill>
                <a:latin typeface="Inter"/>
              </a:rPr>
              <a:t>Learning from Minimal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8032"/>
            <a:ext cx="11049000" cy="3037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2358032"/>
            <a:ext cx="54768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We developed an algorithm that reconstructs individual patient data from published scientific survival curves.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218854"/>
            <a:ext cx="5476875" cy="670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We identified and utilized an open-source study of 918 patients specifically for SVD (Hlavička 2026).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079676"/>
            <a:ext cx="5476875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Inter"/>
              </a:rPr>
              <a:t>This allows the model to learn from hundreds of additional cases, without requiring any new patient data collection.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462682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Inter"/>
              </a:rPr>
              <a:t>Innovation 2: </a:t>
            </a:r>
            <a:r>
              <a:rPr b="1" sz="3300" i="0" u="none">
                <a:solidFill>
                  <a:srgbClr val="0284C7"/>
                </a:solidFill>
                <a:latin typeface="Inter"/>
              </a:rPr>
              <a:t>More Data, No New Patients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77082"/>
            <a:ext cx="1333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37904"/>
            <a:ext cx="1333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98726"/>
            <a:ext cx="133350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90737"/>
            <a:ext cx="3492400" cy="35717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650" y="2090737"/>
            <a:ext cx="3492549" cy="35717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7950" y="2090737"/>
            <a:ext cx="3492400" cy="35717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00" y="2481262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2568" y="3433762"/>
            <a:ext cx="2110263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Medical Guidance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00487"/>
            <a:ext cx="290185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Comprehensive explanation of the clinical background (SVD mechanisms, physiology) to the technical team, ensuring medical accuracy in our design.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4851" y="2481262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70723" y="3433762"/>
            <a:ext cx="2050256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Feature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4925" y="3900487"/>
            <a:ext cx="2901999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Targeted guidance in selecting the most critical clinical variables that feed into the prediction model.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150" y="2481262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914030" y="3433762"/>
            <a:ext cx="192024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Data Annotation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225" y="3900487"/>
            <a:ext cx="290185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Specialized annotation of unstructured clinical notes, primarily focusing on confirming the presence of SVD and classifying its severity.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51012" y="2671762"/>
            <a:ext cx="33337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351" y="2671762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83650" y="2671762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1195387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Inter"/>
              </a:rPr>
              <a:t>Clinician's Contribution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038" y="2287041"/>
            <a:ext cx="4405312" cy="31792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313" y="3988147"/>
            <a:ext cx="3814762" cy="11828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10313" y="3201441"/>
            <a:ext cx="3814762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F172A"/>
                </a:solidFill>
                <a:latin typeface="Inter"/>
              </a:rPr>
              <a:t>Patient_035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</a:t>
            </a:r>
            <a:r>
              <a:t>
</a:t>
            </a:r>
            <a:r>
              <a:rPr b="0" sz="1350" i="0" u="none">
                <a:solidFill>
                  <a:srgbClr val="0F172A"/>
                </a:solidFill>
                <a:latin typeface="Inter"/>
              </a:rPr>
              <a:t> Biocor (2010) → ViV-TAVR (2024)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2429916"/>
            <a:ext cx="5881538" cy="942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100% Detection Rate: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Successfully identified all 8 confirmed SVD cases in the original dataset (117 patients) — zero missed events.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11016"/>
            <a:ext cx="5881538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0F172A"/>
                </a:solidFill>
                <a:latin typeface="Inter"/>
              </a:rPr>
              <a:t>Reintervention Detector:</a:t>
            </a:r>
            <a:r>
              <a:rPr b="0" sz="1650" i="0" u="none">
                <a:solidFill>
                  <a:srgbClr val="475569"/>
                </a:solidFill>
                <a:latin typeface="Inter"/>
              </a:rPr>
              <a:t> Achieved 100% Recall and 80% Precision (F1-Score = 0.889).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313" y="2582316"/>
            <a:ext cx="428625" cy="4286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81813" y="2682329"/>
            <a:ext cx="13401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800" i="0" u="none">
                <a:solidFill>
                  <a:srgbClr val="0369A1"/>
                </a:solidFill>
                <a:latin typeface="Inter"/>
              </a:rPr>
              <a:t>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0338" y="4188172"/>
            <a:ext cx="3414712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Prediction: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0284C7"/>
                </a:solidFill>
                <a:latin typeface="Inter"/>
              </a:rPr>
              <a:t>15.2 yrs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[80% CI: 13.1–19.3]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0338" y="4618583"/>
            <a:ext cx="34147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475569"/>
                </a:solidFill>
                <a:latin typeface="Inter"/>
              </a:rPr>
              <a:t>Actual Failure:</a:t>
            </a:r>
            <a:r>
              <a:rPr b="0" sz="1350" i="0" u="none">
                <a:solidFill>
                  <a:srgbClr val="475569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0F172A"/>
                </a:solidFill>
                <a:latin typeface="Inter"/>
              </a:rPr>
              <a:t>14 yrs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1391691"/>
            <a:ext cx="116014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3300" i="0" u="none">
                <a:solidFill>
                  <a:srgbClr val="0F172A"/>
                </a:solidFill>
                <a:latin typeface="Inter"/>
              </a:rPr>
              <a:t>Results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48966"/>
            <a:ext cx="13335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630066"/>
            <a:ext cx="133350" cy="2190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9376" y="2701379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55657" y="1840259"/>
            <a:ext cx="5480685" cy="1276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8250" i="0" u="none">
                <a:solidFill>
                  <a:srgbClr val="0284C7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86150" y="3211859"/>
            <a:ext cx="5219700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64748B"/>
                </a:solidFill>
                <a:latin typeface="Inter Light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62337" y="4651920"/>
            <a:ext cx="5267325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Medium"/>
              </a:rPr>
              <a:t>Paschalis Sarras  |  Angeliki Sarra  |  Athina Sarra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